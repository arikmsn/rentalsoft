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1544" y="1042095"/>
            <a:ext cx="7300913" cy="3059311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357313" y="1477863"/>
            <a:ext cx="6429375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מערכת מעקב ציוד ותפעול שטח (V1)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1357313" y="3017341"/>
            <a:ext cx="642937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אפיון מוצר מקצועי</a:t>
            </a:r>
            <a:endParaRPr lang="en-US" sz="1704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22" y="3497759"/>
            <a:ext cx="342900" cy="3429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119" y="3497759"/>
            <a:ext cx="385763" cy="3429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478" y="3497759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31333" y="658341"/>
            <a:ext cx="3584042" cy="508992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חזון המערכת וצורך עסקי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925" y="1454200"/>
            <a:ext cx="171450" cy="20716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74977" y="1625650"/>
            <a:ext cx="32260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מטרה מרכזית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5174977" y="1909614"/>
            <a:ext cx="322607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שליטה מלאה ובזמן אמת על מיקום ומצב הציוד בכל רגע נתון.</a:t>
            </a:r>
            <a:endParaRPr lang="en-US" sz="94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925" y="2201056"/>
            <a:ext cx="171450" cy="2071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59682" y="2372506"/>
            <a:ext cx="304136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ייעול תפעולי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5359682" y="2656470"/>
            <a:ext cx="304136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צמצום אובדן ציוד ושיפור ניצול המשאבים הקיימים בארגון.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1063" y="2947913"/>
            <a:ext cx="214313" cy="20716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76021" y="3119363"/>
            <a:ext cx="39821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חוויית משתמש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4376021" y="3403327"/>
            <a:ext cx="398216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ממשק פשוט ואינטואיטיבי המותאם לעבודה אינטנסיבית של טכנאים בשטח.</a:t>
            </a:r>
            <a:endParaRPr lang="en-US" sz="942" dirty="0"/>
          </a:p>
        </p:txBody>
      </p:sp>
      <p:sp>
        <p:nvSpPr>
          <p:cNvPr id="13" name="Shape 7"/>
          <p:cNvSpPr/>
          <p:nvPr/>
        </p:nvSpPr>
        <p:spPr>
          <a:xfrm>
            <a:off x="428625" y="1454200"/>
            <a:ext cx="2500313" cy="2386013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325" y="1539925"/>
            <a:ext cx="428625" cy="61436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21569" y="2240012"/>
            <a:ext cx="1100138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504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100%</a:t>
            </a:r>
            <a:endParaRPr lang="en-US" sz="3504" dirty="0"/>
          </a:p>
        </p:txBody>
      </p:sp>
      <p:sp>
        <p:nvSpPr>
          <p:cNvPr id="16" name="Text 9"/>
          <p:cNvSpPr/>
          <p:nvPr/>
        </p:nvSpPr>
        <p:spPr>
          <a:xfrm>
            <a:off x="1221525" y="2899023"/>
            <a:ext cx="9002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שקיפות תפעולית</a:t>
            </a:r>
            <a:endParaRPr lang="en-US" sz="942" dirty="0"/>
          </a:p>
        </p:txBody>
      </p:sp>
      <p:sp>
        <p:nvSpPr>
          <p:cNvPr id="17" name="Text 10"/>
          <p:cNvSpPr/>
          <p:nvPr/>
        </p:nvSpPr>
        <p:spPr>
          <a:xfrm>
            <a:off x="677233" y="3261568"/>
            <a:ext cx="19888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ייעול ניהול הציוד בשטח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56045" y="715491"/>
            <a:ext cx="3602180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אתגרים מרכזיים ופתרונות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371475" y="1539925"/>
            <a:ext cx="8286750" cy="2480667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71475" y="1539925"/>
            <a:ext cx="8286750" cy="405408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6" name="Shape 3"/>
          <p:cNvSpPr/>
          <p:nvPr/>
        </p:nvSpPr>
        <p:spPr>
          <a:xfrm>
            <a:off x="371475" y="1938189"/>
            <a:ext cx="8286750" cy="7144"/>
          </a:xfrm>
          <a:prstGeom prst="rect">
            <a:avLst/>
          </a:prstGeom>
          <a:solidFill>
            <a:srgbClr val="42526E"/>
          </a:solidFill>
          <a:ln/>
        </p:spPr>
      </p:sp>
      <p:sp>
        <p:nvSpPr>
          <p:cNvPr id="7" name="Text 4"/>
          <p:cNvSpPr/>
          <p:nvPr/>
        </p:nvSpPr>
        <p:spPr>
          <a:xfrm>
            <a:off x="4511278" y="1568500"/>
            <a:ext cx="4146947" cy="34111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האתגר התפעולי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371475" y="1568500"/>
            <a:ext cx="4139803" cy="34111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המענה הטכנולוגי</a:t>
            </a:r>
            <a:endParaRPr lang="en-US" sz="1269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622" y="2166789"/>
            <a:ext cx="196453" cy="1571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05012" y="2152501"/>
            <a:ext cx="8281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חוסר נראות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4575572" y="2370386"/>
            <a:ext cx="40255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קושי באיתור ציוד בזמן אמת, מה שמוביל לעיכובים.</a:t>
            </a:r>
            <a:endParaRPr lang="en-US" sz="942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320" y="2166789"/>
            <a:ext cx="176808" cy="1571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00490" y="2152501"/>
            <a:ext cx="140539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מפה אינטראקטיבית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428625" y="2370386"/>
            <a:ext cx="40255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תצוגת כל הציוד על מפה, עם עדכוני מיקום מדויקים.</a:t>
            </a:r>
            <a:endParaRPr lang="en-US" sz="942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267" y="2856161"/>
            <a:ext cx="176808" cy="1571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10283" y="2841873"/>
            <a:ext cx="6425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דיווח ידני</a:t>
            </a:r>
            <a:endParaRPr lang="en-US" sz="1090" dirty="0"/>
          </a:p>
        </p:txBody>
      </p:sp>
      <p:sp>
        <p:nvSpPr>
          <p:cNvPr id="17" name="Text 11"/>
          <p:cNvSpPr/>
          <p:nvPr/>
        </p:nvSpPr>
        <p:spPr>
          <a:xfrm>
            <a:off x="4575572" y="3059757"/>
            <a:ext cx="40255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תהליכי דיווח מיושנים הגורמים לשגיאות ועיכובים.</a:t>
            </a:r>
            <a:endParaRPr lang="en-US" sz="942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6256" y="2856161"/>
            <a:ext cx="117872" cy="15716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969540" y="2841873"/>
            <a:ext cx="129527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דיווח דיגיטלי מהיר</a:t>
            </a:r>
            <a:endParaRPr lang="en-US" sz="1090" dirty="0"/>
          </a:p>
        </p:txBody>
      </p:sp>
      <p:sp>
        <p:nvSpPr>
          <p:cNvPr id="20" name="Text 13"/>
          <p:cNvSpPr/>
          <p:nvPr/>
        </p:nvSpPr>
        <p:spPr>
          <a:xfrm>
            <a:off x="428625" y="3059757"/>
            <a:ext cx="40255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אפליקציה לטכנאים לעדכונים מהירים וסריקת QR.</a:t>
            </a:r>
            <a:endParaRPr lang="en-US" sz="942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3913" y="3545532"/>
            <a:ext cx="157163" cy="1571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402181" y="3531245"/>
            <a:ext cx="97029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תחזוקה לקויה</a:t>
            </a:r>
            <a:endParaRPr lang="en-US" sz="1090" dirty="0"/>
          </a:p>
        </p:txBody>
      </p:sp>
      <p:sp>
        <p:nvSpPr>
          <p:cNvPr id="23" name="Text 15"/>
          <p:cNvSpPr/>
          <p:nvPr/>
        </p:nvSpPr>
        <p:spPr>
          <a:xfrm>
            <a:off x="4575572" y="3749129"/>
            <a:ext cx="40255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היעדר מעקב היסטורי שמוביל לשחיקה מואצת.</a:t>
            </a:r>
            <a:endParaRPr lang="en-US" sz="942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6966" y="3545532"/>
            <a:ext cx="157163" cy="15716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813689" y="3531245"/>
            <a:ext cx="141183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ניהול היסטוריה חכם</a:t>
            </a:r>
            <a:endParaRPr lang="en-US" sz="1090" dirty="0"/>
          </a:p>
        </p:txBody>
      </p:sp>
      <p:sp>
        <p:nvSpPr>
          <p:cNvPr id="26" name="Text 17"/>
          <p:cNvSpPr/>
          <p:nvPr/>
        </p:nvSpPr>
        <p:spPr>
          <a:xfrm>
            <a:off x="428625" y="3749129"/>
            <a:ext cx="40255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תיעוד אוטומטי, יומני טיפולים ותזכורות לתחזוקה.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88160" y="658341"/>
            <a:ext cx="4327215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מסע משתמש: מנהל המערכת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048384" y="1568500"/>
            <a:ext cx="2666991" cy="258603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536" y="1781026"/>
            <a:ext cx="482203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3842" y="2545407"/>
            <a:ext cx="1065619" cy="226814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בקרה וניטור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6057900" y="3086546"/>
            <a:ext cx="2657475" cy="6171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צפייה בדאשבורד מרכזי המציג את סטטוס הציוד בזמן אמת, התראות על תקלות וניתוח ביצועים תפעוליים.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6057900" y="3870573"/>
            <a:ext cx="2657475" cy="28396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9" name="Text 5"/>
          <p:cNvSpPr/>
          <p:nvPr/>
        </p:nvSpPr>
        <p:spPr>
          <a:xfrm>
            <a:off x="6057900" y="3870573"/>
            <a:ext cx="2657475" cy="2839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שלב 01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3243263" y="1568500"/>
            <a:ext cx="2671763" cy="258603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831" y="1781026"/>
            <a:ext cx="428625" cy="4286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25950" y="2545407"/>
            <a:ext cx="1106388" cy="226814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ניהול אתרים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3248006" y="3086546"/>
            <a:ext cx="2662247" cy="6171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הגדרת אתרי עבודה, שיוך ציוד לאתרים ספציפיים והגדרת גבולות גיאוגרפיים (Geofencing) למניעת גניבות.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3248006" y="3870573"/>
            <a:ext cx="2662247" cy="28396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15" name="Text 10"/>
          <p:cNvSpPr/>
          <p:nvPr/>
        </p:nvSpPr>
        <p:spPr>
          <a:xfrm>
            <a:off x="3248006" y="3870573"/>
            <a:ext cx="2662247" cy="2839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שלב 02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428597" y="1568500"/>
            <a:ext cx="2676534" cy="258603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850" y="1781026"/>
            <a:ext cx="428625" cy="4286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89617" y="2545407"/>
            <a:ext cx="1345062" cy="226814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הקצאת משימות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428653" y="3086546"/>
            <a:ext cx="2666991" cy="6171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יצירת הזמנות עבודה, שיבוץ טכנאים לטיפול בתקלות או להעברת ציוד בין אתרים ומעקב אחר התקדמות הביצוע.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428653" y="3856286"/>
            <a:ext cx="2666991" cy="28396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21" name="Text 15"/>
          <p:cNvSpPr/>
          <p:nvPr/>
        </p:nvSpPr>
        <p:spPr>
          <a:xfrm>
            <a:off x="428653" y="3856286"/>
            <a:ext cx="2666991" cy="2839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שלב 03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1152" y="658341"/>
            <a:ext cx="3964223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מסע משתמש: טכנאי שטח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095991" y="1568500"/>
            <a:ext cx="2762259" cy="2443163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03312" y="1711375"/>
            <a:ext cx="357188" cy="357188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6" name="Text 3"/>
          <p:cNvSpPr/>
          <p:nvPr/>
        </p:nvSpPr>
        <p:spPr>
          <a:xfrm>
            <a:off x="7303312" y="1711375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884" y="2154287"/>
            <a:ext cx="350044" cy="400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21754" y="2854375"/>
            <a:ext cx="1720276" cy="226814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צ'ק-אין/אאוט מהיר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6105534" y="3309789"/>
            <a:ext cx="2752716" cy="385763"/>
          </a:xfrm>
          <a:prstGeom prst="rect">
            <a:avLst/>
          </a:prstGeom>
          <a:noFill/>
          <a:ln/>
        </p:spPr>
        <p:txBody>
          <a:bodyPr wrap="square" lIns="136017" tIns="0" rIns="136017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עדכון סטטוס ציוד בשניות על ידי סריקת קוד QR המוצמד למכשיר, ללא צורך בהקלדה ידנית.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3195656" y="1568500"/>
            <a:ext cx="2767003" cy="2443163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400550" y="1711375"/>
            <a:ext cx="357188" cy="357188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12" name="Text 8"/>
          <p:cNvSpPr/>
          <p:nvPr/>
        </p:nvSpPr>
        <p:spPr>
          <a:xfrm>
            <a:off x="4400550" y="1711375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1269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119" y="2154287"/>
            <a:ext cx="400050" cy="400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82616" y="2854375"/>
            <a:ext cx="1593056" cy="226814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דיווח תקלות ויזואלי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3200400" y="3309789"/>
            <a:ext cx="2757488" cy="385763"/>
          </a:xfrm>
          <a:prstGeom prst="rect">
            <a:avLst/>
          </a:prstGeom>
          <a:noFill/>
          <a:ln/>
        </p:spPr>
        <p:txBody>
          <a:bodyPr wrap="square" lIns="136017" tIns="0" rIns="136017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תיעוד תקלות באמצעות צילום תמונות והוספת תיאור קולי או טקסטואלי ישירות מהאפליקציה.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285750" y="1568500"/>
            <a:ext cx="2771775" cy="2443163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488272" y="1711375"/>
            <a:ext cx="357188" cy="357188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18" name="Text 13"/>
          <p:cNvSpPr/>
          <p:nvPr/>
        </p:nvSpPr>
        <p:spPr>
          <a:xfrm>
            <a:off x="1488272" y="1711375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1269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841" y="2154287"/>
            <a:ext cx="400050" cy="4000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6200" y="2854375"/>
            <a:ext cx="1361331" cy="226814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ניווט חכם לציוד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285722" y="3309789"/>
            <a:ext cx="2762259" cy="385763"/>
          </a:xfrm>
          <a:prstGeom prst="rect">
            <a:avLst/>
          </a:prstGeom>
          <a:noFill/>
          <a:ln/>
        </p:spPr>
        <p:txBody>
          <a:bodyPr wrap="square" lIns="136017" tIns="0" rIns="136017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איתור מדויק של הציוד הנדרש על גבי המפה וקבלת מסלול הגעה אופטימלי בתוך האתר.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9744" y="715491"/>
            <a:ext cx="2938481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ישויות ליבה במערכת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300038" y="1482775"/>
            <a:ext cx="8429625" cy="3717875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522" y="1602432"/>
            <a:ext cx="357188" cy="3571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96149" y="2223855"/>
            <a:ext cx="1261904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ציוד (Asset)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7850563" y="2622119"/>
            <a:ext cx="6647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מזהה ייחודי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6138853" y="2622119"/>
            <a:ext cx="5840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 / ID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8058708" y="2884652"/>
            <a:ext cx="4566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סוג ציוד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6138853" y="2884652"/>
            <a:ext cx="5589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8120044" y="3147185"/>
            <a:ext cx="3953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סטטוס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6138853" y="3147185"/>
            <a:ext cx="7965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Active/Faulty</a:t>
            </a:r>
            <a:endParaRPr lang="en-US" sz="942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905" y="1602432"/>
            <a:ext cx="267891" cy="3571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21696" y="2223855"/>
            <a:ext cx="1186281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אתר (Site)</a:t>
            </a:r>
            <a:endParaRPr lang="en-US" sz="1397" dirty="0"/>
          </a:p>
        </p:txBody>
      </p:sp>
      <p:sp>
        <p:nvSpPr>
          <p:cNvPr id="15" name="Text 10"/>
          <p:cNvSpPr/>
          <p:nvPr/>
        </p:nvSpPr>
        <p:spPr>
          <a:xfrm>
            <a:off x="5130217" y="2622119"/>
            <a:ext cx="5728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שם האתר</a:t>
            </a:r>
            <a:endParaRPr lang="en-US" sz="885" dirty="0"/>
          </a:p>
        </p:txBody>
      </p:sp>
      <p:sp>
        <p:nvSpPr>
          <p:cNvPr id="16" name="Text 11"/>
          <p:cNvSpPr/>
          <p:nvPr/>
        </p:nvSpPr>
        <p:spPr>
          <a:xfrm>
            <a:off x="3326588" y="2622119"/>
            <a:ext cx="6197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Name</a:t>
            </a:r>
            <a:endParaRPr lang="en-US" sz="942" dirty="0"/>
          </a:p>
        </p:txBody>
      </p:sp>
      <p:sp>
        <p:nvSpPr>
          <p:cNvPr id="17" name="Text 12"/>
          <p:cNvSpPr/>
          <p:nvPr/>
        </p:nvSpPr>
        <p:spPr>
          <a:xfrm>
            <a:off x="5326224" y="2884652"/>
            <a:ext cx="3768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כתובת</a:t>
            </a:r>
            <a:endParaRPr lang="en-US" sz="885" dirty="0"/>
          </a:p>
        </p:txBody>
      </p:sp>
      <p:sp>
        <p:nvSpPr>
          <p:cNvPr id="18" name="Text 13"/>
          <p:cNvSpPr/>
          <p:nvPr/>
        </p:nvSpPr>
        <p:spPr>
          <a:xfrm>
            <a:off x="3326588" y="2884652"/>
            <a:ext cx="8340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Addr</a:t>
            </a:r>
            <a:endParaRPr lang="en-US" sz="942" dirty="0"/>
          </a:p>
        </p:txBody>
      </p:sp>
      <p:sp>
        <p:nvSpPr>
          <p:cNvPr id="19" name="Text 14"/>
          <p:cNvSpPr/>
          <p:nvPr/>
        </p:nvSpPr>
        <p:spPr>
          <a:xfrm>
            <a:off x="5315731" y="3147185"/>
            <a:ext cx="3873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גבולות</a:t>
            </a:r>
            <a:endParaRPr lang="en-US" sz="885" dirty="0"/>
          </a:p>
        </p:txBody>
      </p:sp>
      <p:sp>
        <p:nvSpPr>
          <p:cNvPr id="20" name="Text 15"/>
          <p:cNvSpPr/>
          <p:nvPr/>
        </p:nvSpPr>
        <p:spPr>
          <a:xfrm>
            <a:off x="3326588" y="3147185"/>
            <a:ext cx="5929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Geofence</a:t>
            </a:r>
            <a:endParaRPr lang="en-US" sz="942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639" y="1602432"/>
            <a:ext cx="267891" cy="3571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68505" y="2223855"/>
            <a:ext cx="1068130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הזמנת עבודה</a:t>
            </a:r>
            <a:endParaRPr lang="en-US" sz="1397" dirty="0"/>
          </a:p>
        </p:txBody>
      </p:sp>
      <p:sp>
        <p:nvSpPr>
          <p:cNvPr id="23" name="Text 17"/>
          <p:cNvSpPr/>
          <p:nvPr/>
        </p:nvSpPr>
        <p:spPr>
          <a:xfrm>
            <a:off x="2344071" y="2622119"/>
            <a:ext cx="5467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סוג טיפול</a:t>
            </a:r>
            <a:endParaRPr lang="en-US" sz="885" dirty="0"/>
          </a:p>
        </p:txBody>
      </p:sp>
      <p:sp>
        <p:nvSpPr>
          <p:cNvPr id="24" name="Text 18"/>
          <p:cNvSpPr/>
          <p:nvPr/>
        </p:nvSpPr>
        <p:spPr>
          <a:xfrm>
            <a:off x="514322" y="2622119"/>
            <a:ext cx="7929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Type</a:t>
            </a:r>
            <a:endParaRPr lang="en-US" sz="942" dirty="0"/>
          </a:p>
        </p:txBody>
      </p:sp>
      <p:sp>
        <p:nvSpPr>
          <p:cNvPr id="25" name="Text 19"/>
          <p:cNvSpPr/>
          <p:nvPr/>
        </p:nvSpPr>
        <p:spPr>
          <a:xfrm>
            <a:off x="2478602" y="2884652"/>
            <a:ext cx="4122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דחיפות</a:t>
            </a:r>
            <a:endParaRPr lang="en-US" sz="885" dirty="0"/>
          </a:p>
        </p:txBody>
      </p:sp>
      <p:sp>
        <p:nvSpPr>
          <p:cNvPr id="26" name="Text 20"/>
          <p:cNvSpPr/>
          <p:nvPr/>
        </p:nvSpPr>
        <p:spPr>
          <a:xfrm>
            <a:off x="514322" y="2884652"/>
            <a:ext cx="4357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</a:t>
            </a:r>
            <a:endParaRPr lang="en-US" sz="942" dirty="0"/>
          </a:p>
        </p:txBody>
      </p:sp>
      <p:sp>
        <p:nvSpPr>
          <p:cNvPr id="27" name="Text 21"/>
          <p:cNvSpPr/>
          <p:nvPr/>
        </p:nvSpPr>
        <p:spPr>
          <a:xfrm>
            <a:off x="2142093" y="3147185"/>
            <a:ext cx="7487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סטטוס ביצוע</a:t>
            </a:r>
            <a:endParaRPr lang="en-US" sz="885" dirty="0"/>
          </a:p>
        </p:txBody>
      </p:sp>
      <p:sp>
        <p:nvSpPr>
          <p:cNvPr id="28" name="Text 22"/>
          <p:cNvSpPr/>
          <p:nvPr/>
        </p:nvSpPr>
        <p:spPr>
          <a:xfrm>
            <a:off x="514322" y="3147185"/>
            <a:ext cx="5411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8542" y="715491"/>
            <a:ext cx="3979683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ממשק המשתמש (UI/UX)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197" y="1681014"/>
            <a:ext cx="225028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25052" y="1797100"/>
            <a:ext cx="29652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תצוגת מפה חכמה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5325052" y="2066776"/>
            <a:ext cx="296527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מיקום הציוד מוצג באמצעות סיכות צבעוניות לפי סטטוס.</a:t>
            </a:r>
            <a:endParaRPr lang="en-US" sz="94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413583"/>
            <a:ext cx="200025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08967" y="2529669"/>
            <a:ext cx="22063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חיפוש וסינון מהיר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6108967" y="2799345"/>
            <a:ext cx="220635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סינון לפי סוג ציוד, אתר, טכנאי או דחיפות.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203" y="3146152"/>
            <a:ext cx="175022" cy="2000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19700" y="3262238"/>
            <a:ext cx="342062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מערכת התראות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4919700" y="3531915"/>
            <a:ext cx="342062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התראות בזמן אמת על תקלות, Geofencing או שינויים בסטטוס.</a:t>
            </a:r>
            <a:endParaRPr lang="en-US" sz="942" dirty="0"/>
          </a:p>
        </p:txBody>
      </p:sp>
      <p:sp>
        <p:nvSpPr>
          <p:cNvPr id="13" name="Shape 7"/>
          <p:cNvSpPr/>
          <p:nvPr/>
        </p:nvSpPr>
        <p:spPr>
          <a:xfrm>
            <a:off x="371475" y="1625650"/>
            <a:ext cx="4007644" cy="258603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371475" y="1625650"/>
            <a:ext cx="4000500" cy="341114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15" name="Text 9"/>
          <p:cNvSpPr/>
          <p:nvPr/>
        </p:nvSpPr>
        <p:spPr>
          <a:xfrm>
            <a:off x="371475" y="1625650"/>
            <a:ext cx="4000500" cy="34111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תצוגת מערכת - דוגמה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28625" y="2023914"/>
            <a:ext cx="3886200" cy="728663"/>
          </a:xfrm>
          <a:prstGeom prst="rect">
            <a:avLst/>
          </a:prstGeom>
          <a:solidFill>
            <a:srgbClr val="E0E0E0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0488" y="2166789"/>
            <a:ext cx="128588" cy="17145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863" y="2452539"/>
            <a:ext cx="128588" cy="17145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0488" y="2595414"/>
            <a:ext cx="128588" cy="1714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891392" y="2328416"/>
            <a:ext cx="960667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תצוגת מפה אינטראקטיבית</a:t>
            </a:r>
            <a:endParaRPr lang="en-US" sz="621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0519" y="2870448"/>
            <a:ext cx="100013" cy="10001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2433451" y="2859732"/>
            <a:ext cx="164563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התראה: ציוד #402 חרג מגבולות האתר</a:t>
            </a:r>
            <a:endParaRPr lang="en-US" sz="727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0519" y="3177629"/>
            <a:ext cx="100013" cy="100013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2481253" y="3166914"/>
            <a:ext cx="15978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עדכון: טכנאי סיים טיפול בהזמנה #109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7483" y="658341"/>
            <a:ext cx="2687892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ארכיטקטורה טכנית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511350"/>
            <a:ext cx="8286750" cy="92868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613" y="1868537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97366" y="1840855"/>
            <a:ext cx="7250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Backend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4563461" y="1781026"/>
            <a:ext cx="193020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/ Express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4563461" y="1989981"/>
            <a:ext cx="193020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שרת API מהיר לניהול בקשות בזמן אמת.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2846729" y="1781026"/>
            <a:ext cx="157385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2846729" y="1989981"/>
            <a:ext cx="157385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מסד נתונים רלציוני לניהול ישויות.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428625" y="2468612"/>
            <a:ext cx="8286750" cy="92868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825800"/>
            <a:ext cx="214313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50919" y="2798118"/>
            <a:ext cx="8286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Frontend</a:t>
            </a:r>
            <a:endParaRPr lang="en-US" sz="1269" dirty="0"/>
          </a:p>
        </p:txBody>
      </p:sp>
      <p:sp>
        <p:nvSpPr>
          <p:cNvPr id="14" name="Text 9"/>
          <p:cNvSpPr/>
          <p:nvPr/>
        </p:nvSpPr>
        <p:spPr>
          <a:xfrm>
            <a:off x="4534663" y="2738289"/>
            <a:ext cx="195900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4534663" y="2947243"/>
            <a:ext cx="195900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ממשק ניהול (Admin Dashboard) עשיר.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2753469" y="2738289"/>
            <a:ext cx="16383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Native</a:t>
            </a:r>
            <a:endParaRPr lang="en-US" sz="987" dirty="0"/>
          </a:p>
        </p:txBody>
      </p:sp>
      <p:sp>
        <p:nvSpPr>
          <p:cNvPr id="17" name="Text 12"/>
          <p:cNvSpPr/>
          <p:nvPr/>
        </p:nvSpPr>
        <p:spPr>
          <a:xfrm>
            <a:off x="2753469" y="2947243"/>
            <a:ext cx="163831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אפליקציית מובייל לטכנאים בשטח.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428625" y="3425875"/>
            <a:ext cx="8286750" cy="92868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475" y="3783062"/>
            <a:ext cx="128588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22306" y="3755380"/>
            <a:ext cx="124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Integrations</a:t>
            </a:r>
            <a:endParaRPr lang="en-US" sz="1269" dirty="0"/>
          </a:p>
        </p:txBody>
      </p:sp>
      <p:sp>
        <p:nvSpPr>
          <p:cNvPr id="21" name="Text 15"/>
          <p:cNvSpPr/>
          <p:nvPr/>
        </p:nvSpPr>
        <p:spPr>
          <a:xfrm>
            <a:off x="5113641" y="3695551"/>
            <a:ext cx="138002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Maps API</a:t>
            </a:r>
            <a:endParaRPr lang="en-US" sz="987" dirty="0"/>
          </a:p>
        </p:txBody>
      </p:sp>
      <p:sp>
        <p:nvSpPr>
          <p:cNvPr id="22" name="Text 16"/>
          <p:cNvSpPr/>
          <p:nvPr/>
        </p:nvSpPr>
        <p:spPr>
          <a:xfrm>
            <a:off x="5113641" y="3904506"/>
            <a:ext cx="138002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שירותי מיפוי וניווט מתקדמים.</a:t>
            </a:r>
            <a:endParaRPr lang="en-US" sz="834" dirty="0"/>
          </a:p>
        </p:txBody>
      </p:sp>
      <p:sp>
        <p:nvSpPr>
          <p:cNvPr id="23" name="Text 17"/>
          <p:cNvSpPr/>
          <p:nvPr/>
        </p:nvSpPr>
        <p:spPr>
          <a:xfrm>
            <a:off x="3538333" y="3695551"/>
            <a:ext cx="143243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Storage</a:t>
            </a:r>
            <a:endParaRPr lang="en-US" sz="987" dirty="0"/>
          </a:p>
        </p:txBody>
      </p:sp>
      <p:sp>
        <p:nvSpPr>
          <p:cNvPr id="24" name="Text 18"/>
          <p:cNvSpPr/>
          <p:nvPr/>
        </p:nvSpPr>
        <p:spPr>
          <a:xfrm>
            <a:off x="3538333" y="3904506"/>
            <a:ext cx="143243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אחסון תמונות ותיעוד מהשטח.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3640" y="715491"/>
            <a:ext cx="2754585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72B4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שלבי פיתוח ו-MVP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371475" y="1597075"/>
            <a:ext cx="8286750" cy="98583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72350" y="1597075"/>
            <a:ext cx="1285875" cy="971550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6" name="Text 3"/>
          <p:cNvSpPr/>
          <p:nvPr/>
        </p:nvSpPr>
        <p:spPr>
          <a:xfrm>
            <a:off x="7863483" y="1847106"/>
            <a:ext cx="30360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PHASE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7861697" y="1979265"/>
            <a:ext cx="30718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1808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003" y="1939975"/>
            <a:ext cx="250031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2925" y="1900851"/>
            <a:ext cx="59364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תשתית וניהול ליבה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542925" y="2199103"/>
            <a:ext cx="59364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הקמת מסד הנתונים, פיתוח ממשק הניהול הבסיסי (Admin Dashboard) ויכולות ניהול מלאי וציוד ראשוניות.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371475" y="2625775"/>
            <a:ext cx="8286750" cy="98583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72350" y="2625775"/>
            <a:ext cx="1285875" cy="971550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13" name="Text 9"/>
          <p:cNvSpPr/>
          <p:nvPr/>
        </p:nvSpPr>
        <p:spPr>
          <a:xfrm>
            <a:off x="7863483" y="2875806"/>
            <a:ext cx="30360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PHASE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7861697" y="3007965"/>
            <a:ext cx="30718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1808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863" y="2968675"/>
            <a:ext cx="214313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2925" y="2929551"/>
            <a:ext cx="59364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אפליקציית שטח ודיווח</a:t>
            </a:r>
            <a:endParaRPr lang="en-US" sz="1269" dirty="0"/>
          </a:p>
        </p:txBody>
      </p:sp>
      <p:sp>
        <p:nvSpPr>
          <p:cNvPr id="17" name="Text 12"/>
          <p:cNvSpPr/>
          <p:nvPr/>
        </p:nvSpPr>
        <p:spPr>
          <a:xfrm>
            <a:off x="542925" y="3227803"/>
            <a:ext cx="59364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פיתוח אפליקציית המובייל לטכנאים, הטמעת סריקת QR, דיווח תקלות ויזואלי וסנכרון נתונים בזמן אמת.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371475" y="3654475"/>
            <a:ext cx="8286750" cy="985838"/>
          </a:xfrm>
          <a:prstGeom prst="rect">
            <a:avLst/>
          </a:prstGeom>
          <a:solidFill>
            <a:srgbClr val="FFFFFF"/>
          </a:solidFill>
          <a:ln w="9144">
            <a:solidFill>
              <a:srgbClr val="42526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72350" y="3654475"/>
            <a:ext cx="1285875" cy="971550"/>
          </a:xfrm>
          <a:prstGeom prst="rect">
            <a:avLst/>
          </a:prstGeom>
          <a:solidFill>
            <a:srgbClr val="172B4D"/>
          </a:solidFill>
          <a:ln/>
        </p:spPr>
      </p:sp>
      <p:sp>
        <p:nvSpPr>
          <p:cNvPr id="20" name="Text 15"/>
          <p:cNvSpPr/>
          <p:nvPr/>
        </p:nvSpPr>
        <p:spPr>
          <a:xfrm>
            <a:off x="7863483" y="3904506"/>
            <a:ext cx="30360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PHASE</a:t>
            </a:r>
            <a:endParaRPr lang="en-US" sz="727" dirty="0"/>
          </a:p>
        </p:txBody>
      </p:sp>
      <p:sp>
        <p:nvSpPr>
          <p:cNvPr id="21" name="Text 16"/>
          <p:cNvSpPr/>
          <p:nvPr/>
        </p:nvSpPr>
        <p:spPr>
          <a:xfrm>
            <a:off x="7861697" y="4036665"/>
            <a:ext cx="30718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1808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284" y="3997375"/>
            <a:ext cx="321469" cy="2857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2925" y="3958251"/>
            <a:ext cx="59364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אופטימיזציה והתראות</a:t>
            </a:r>
            <a:endParaRPr lang="en-US" sz="1269" dirty="0"/>
          </a:p>
        </p:txBody>
      </p:sp>
      <p:sp>
        <p:nvSpPr>
          <p:cNvPr id="24" name="Text 18"/>
          <p:cNvSpPr/>
          <p:nvPr/>
        </p:nvSpPr>
        <p:spPr>
          <a:xfrm>
            <a:off x="542925" y="4256503"/>
            <a:ext cx="59364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25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שילוב המפה האינטראקטיבית, הגדרת Geofencing, מערכת התראות Push חכמה ודוחות אנליטיים מתקדמים.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2026-03-01T05:37:39Z</dcterms:created>
  <dcterms:modified xsi:type="dcterms:W3CDTF">2026-03-01T05:37:39Z</dcterms:modified>
</cp:coreProperties>
</file>