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1544" y="743759"/>
            <a:ext cx="7300913" cy="3641666"/>
          </a:xfrm>
          <a:prstGeom prst="rect">
            <a:avLst/>
          </a:prstGeom>
          <a:solidFill>
            <a:srgbClr val="FFFFFF">
              <a:alpha val="80000"/>
            </a:srgbClr>
          </a:solidFill>
          <a:ln w="9144">
            <a:solidFill>
              <a:srgbClr val="42526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357313" y="1447558"/>
            <a:ext cx="6429375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Equipment Tracking &amp; Field Operations System (V1)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1357313" y="2972749"/>
            <a:ext cx="642937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5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Product Specification</a:t>
            </a:r>
            <a:endParaRPr lang="en-US" sz="1704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903" y="3567466"/>
            <a:ext cx="342900" cy="3429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119" y="3567466"/>
            <a:ext cx="385763" cy="34290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197" y="3567466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58341"/>
            <a:ext cx="6377946" cy="551855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System Vision and Business Need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611362"/>
            <a:ext cx="171450" cy="20716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2950" y="1782812"/>
            <a:ext cx="44956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Core Goal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742950" y="2145357"/>
            <a:ext cx="449567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Full, real-time control over equipment location and status at any given moment.</a:t>
            </a:r>
            <a:endParaRPr lang="en-US" sz="942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651113"/>
            <a:ext cx="171450" cy="20716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2950" y="2822563"/>
            <a:ext cx="46577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Operational Efficiency</a:t>
            </a:r>
            <a:endParaRPr lang="en-US" sz="1193" dirty="0"/>
          </a:p>
        </p:txBody>
      </p:sp>
      <p:sp>
        <p:nvSpPr>
          <p:cNvPr id="9" name="Text 4"/>
          <p:cNvSpPr/>
          <p:nvPr/>
        </p:nvSpPr>
        <p:spPr>
          <a:xfrm>
            <a:off x="742950" y="3185108"/>
            <a:ext cx="46577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Reducing equipment loss and improving the utilization of existing organizational resources.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896581"/>
            <a:ext cx="214313" cy="20716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5813" y="4068031"/>
            <a:ext cx="44814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User Experience</a:t>
            </a:r>
            <a:endParaRPr lang="en-US" sz="1193" dirty="0"/>
          </a:p>
        </p:txBody>
      </p:sp>
      <p:sp>
        <p:nvSpPr>
          <p:cNvPr id="12" name="Text 6"/>
          <p:cNvSpPr/>
          <p:nvPr/>
        </p:nvSpPr>
        <p:spPr>
          <a:xfrm>
            <a:off x="785813" y="4430576"/>
            <a:ext cx="44814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and intuitive interface tailored for the intensive work of field technicians.</a:t>
            </a:r>
            <a:endParaRPr lang="en-US" sz="942" dirty="0"/>
          </a:p>
        </p:txBody>
      </p:sp>
      <p:sp>
        <p:nvSpPr>
          <p:cNvPr id="13" name="Shape 7"/>
          <p:cNvSpPr/>
          <p:nvPr/>
        </p:nvSpPr>
        <p:spPr>
          <a:xfrm>
            <a:off x="6215063" y="1611362"/>
            <a:ext cx="2500313" cy="3324969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8050" y="1754237"/>
            <a:ext cx="428625" cy="5715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23717" y="2468612"/>
            <a:ext cx="1097291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504" dirty="0">
                <a:solidFill>
                  <a:srgbClr val="0052C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100%</a:t>
            </a:r>
            <a:endParaRPr lang="en-US" sz="3504" dirty="0"/>
          </a:p>
        </p:txBody>
      </p:sp>
      <p:sp>
        <p:nvSpPr>
          <p:cNvPr id="16" name="Text 9"/>
          <p:cNvSpPr/>
          <p:nvPr/>
        </p:nvSpPr>
        <p:spPr>
          <a:xfrm>
            <a:off x="6891040" y="3149054"/>
            <a:ext cx="116264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Visibility</a:t>
            </a:r>
            <a:endParaRPr lang="en-US" sz="942" dirty="0"/>
          </a:p>
        </p:txBody>
      </p:sp>
      <p:sp>
        <p:nvSpPr>
          <p:cNvPr id="17" name="Text 10"/>
          <p:cNvSpPr/>
          <p:nvPr/>
        </p:nvSpPr>
        <p:spPr>
          <a:xfrm>
            <a:off x="6477958" y="3559820"/>
            <a:ext cx="198880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Streamlining Field Management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58341"/>
            <a:ext cx="5750719" cy="523280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Challenges and Solutions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285750" y="1468487"/>
            <a:ext cx="8572500" cy="3004951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85750" y="1468487"/>
            <a:ext cx="8572500" cy="462558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1923901"/>
            <a:ext cx="8572500" cy="7144"/>
          </a:xfrm>
          <a:prstGeom prst="rect">
            <a:avLst/>
          </a:prstGeom>
          <a:solidFill>
            <a:srgbClr val="42526E"/>
          </a:solidFill>
          <a:ln/>
        </p:spPr>
      </p:sp>
      <p:sp>
        <p:nvSpPr>
          <p:cNvPr id="7" name="Text 4"/>
          <p:cNvSpPr/>
          <p:nvPr/>
        </p:nvSpPr>
        <p:spPr>
          <a:xfrm>
            <a:off x="285750" y="1525637"/>
            <a:ext cx="4289822" cy="34111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Operational Challenge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4575572" y="1525637"/>
            <a:ext cx="4282678" cy="34111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Technological Solution</a:t>
            </a:r>
            <a:endParaRPr lang="en-US" sz="1269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152501"/>
            <a:ext cx="196453" cy="1571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0791" y="2138214"/>
            <a:ext cx="12126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Visibility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342900" y="2370386"/>
            <a:ext cx="4168378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Difficulty in locating equipment in real-time, leading to task delays and resource loss.</a:t>
            </a:r>
            <a:endParaRPr lang="en-US" sz="942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722" y="2152501"/>
            <a:ext cx="176808" cy="1571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80967" y="2138214"/>
            <a:ext cx="114835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Map</a:t>
            </a:r>
            <a:endParaRPr lang="en-US" sz="1090" dirty="0"/>
          </a:p>
        </p:txBody>
      </p:sp>
      <p:sp>
        <p:nvSpPr>
          <p:cNvPr id="14" name="Text 9"/>
          <p:cNvSpPr/>
          <p:nvPr/>
        </p:nvSpPr>
        <p:spPr>
          <a:xfrm>
            <a:off x="4632722" y="2370386"/>
            <a:ext cx="4168378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display of all equipment on a map with GPS-based location updates and Geofencing.</a:t>
            </a:r>
            <a:endParaRPr lang="en-US" sz="942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2997584"/>
            <a:ext cx="176808" cy="1571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1145" y="2983297"/>
            <a:ext cx="130730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Reporting</a:t>
            </a:r>
            <a:endParaRPr lang="en-US" sz="1090" dirty="0"/>
          </a:p>
        </p:txBody>
      </p:sp>
      <p:sp>
        <p:nvSpPr>
          <p:cNvPr id="17" name="Text 11"/>
          <p:cNvSpPr/>
          <p:nvPr/>
        </p:nvSpPr>
        <p:spPr>
          <a:xfrm>
            <a:off x="342900" y="3215469"/>
            <a:ext cx="4168378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Outdated reporting processes on paper or phone calls causing human error and slow data processing.</a:t>
            </a:r>
            <a:endParaRPr lang="en-US" sz="942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2722" y="2997584"/>
            <a:ext cx="117872" cy="15716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22031" y="2983297"/>
            <a:ext cx="158412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Digital Reporting</a:t>
            </a:r>
            <a:endParaRPr lang="en-US" sz="1090" dirty="0"/>
          </a:p>
        </p:txBody>
      </p:sp>
      <p:sp>
        <p:nvSpPr>
          <p:cNvPr id="20" name="Text 13"/>
          <p:cNvSpPr/>
          <p:nvPr/>
        </p:nvSpPr>
        <p:spPr>
          <a:xfrm>
            <a:off x="4632722" y="3215469"/>
            <a:ext cx="4168378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app for technicians allowing quick status updates, QR scanning, and photo uploads.</a:t>
            </a:r>
            <a:endParaRPr lang="en-US" sz="942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3842668"/>
            <a:ext cx="157163" cy="15716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71500" y="3828380"/>
            <a:ext cx="134838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Maintenance</a:t>
            </a:r>
            <a:endParaRPr lang="en-US" sz="1090" dirty="0"/>
          </a:p>
        </p:txBody>
      </p:sp>
      <p:sp>
        <p:nvSpPr>
          <p:cNvPr id="23" name="Text 15"/>
          <p:cNvSpPr/>
          <p:nvPr/>
        </p:nvSpPr>
        <p:spPr>
          <a:xfrm>
            <a:off x="342900" y="4060552"/>
            <a:ext cx="4168378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tracking for service history and faults, leading to accelerated wear and unplanned downtime.</a:t>
            </a:r>
            <a:endParaRPr lang="en-US" sz="942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2722" y="3842668"/>
            <a:ext cx="157163" cy="15716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861322" y="3828380"/>
            <a:ext cx="202703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History Management</a:t>
            </a:r>
            <a:endParaRPr lang="en-US" sz="1090" dirty="0"/>
          </a:p>
        </p:txBody>
      </p:sp>
      <p:sp>
        <p:nvSpPr>
          <p:cNvPr id="26" name="Text 17"/>
          <p:cNvSpPr/>
          <p:nvPr/>
        </p:nvSpPr>
        <p:spPr>
          <a:xfrm>
            <a:off x="4632722" y="4060552"/>
            <a:ext cx="4168378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logging of every action, maintenance logs, and automated reminders for preventive service.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58341"/>
            <a:ext cx="5339953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User Journey: System Admin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568500"/>
            <a:ext cx="2666991" cy="2586038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261" y="1781026"/>
            <a:ext cx="482203" cy="428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7219" y="2516832"/>
            <a:ext cx="2300288" cy="226814"/>
          </a:xfrm>
          <a:prstGeom prst="rect">
            <a:avLst/>
          </a:prstGeom>
          <a:noFill/>
          <a:ln/>
        </p:spPr>
        <p:txBody>
          <a:bodyPr wrap="none" lIns="136017" tIns="0" rIns="136017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Control &amp; Monitoring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428625" y="3057971"/>
            <a:ext cx="2657475" cy="617153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Viewing a central dashboard showing real-time equipment status, fault alerts, and performance analysis.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428625" y="3870573"/>
            <a:ext cx="2657475" cy="28396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9" name="Text 5"/>
          <p:cNvSpPr/>
          <p:nvPr/>
        </p:nvSpPr>
        <p:spPr>
          <a:xfrm>
            <a:off x="428625" y="3870573"/>
            <a:ext cx="2657475" cy="283964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 01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3228975" y="1568500"/>
            <a:ext cx="2671763" cy="2586038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544" y="1781026"/>
            <a:ext cx="428625" cy="4286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73673" y="2516832"/>
            <a:ext cx="1782366" cy="226814"/>
          </a:xfrm>
          <a:prstGeom prst="rect">
            <a:avLst/>
          </a:prstGeom>
          <a:noFill/>
          <a:ln/>
        </p:spPr>
        <p:txBody>
          <a:bodyPr wrap="none" lIns="136017" tIns="0" rIns="136017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Site Management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3233747" y="3057971"/>
            <a:ext cx="2662247" cy="617153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Defining work sites, assigning equipment to locations, and setting geofencing boundaries.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3233747" y="3870573"/>
            <a:ext cx="2662247" cy="28396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15" name="Text 10"/>
          <p:cNvSpPr/>
          <p:nvPr/>
        </p:nvSpPr>
        <p:spPr>
          <a:xfrm>
            <a:off x="3233747" y="3870573"/>
            <a:ext cx="2662247" cy="283964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 02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6038869" y="1568500"/>
            <a:ext cx="2676534" cy="2586038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525" y="1781026"/>
            <a:ext cx="428625" cy="4286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90655" y="2516832"/>
            <a:ext cx="1782366" cy="226814"/>
          </a:xfrm>
          <a:prstGeom prst="rect">
            <a:avLst/>
          </a:prstGeom>
          <a:noFill/>
          <a:ln/>
        </p:spPr>
        <p:txBody>
          <a:bodyPr wrap="none" lIns="136017" tIns="0" rIns="136017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Task Assignment</a:t>
            </a:r>
            <a:endParaRPr lang="en-US" sz="1193" dirty="0"/>
          </a:p>
        </p:txBody>
      </p:sp>
      <p:sp>
        <p:nvSpPr>
          <p:cNvPr id="19" name="Text 13"/>
          <p:cNvSpPr/>
          <p:nvPr/>
        </p:nvSpPr>
        <p:spPr>
          <a:xfrm>
            <a:off x="6048356" y="3057971"/>
            <a:ext cx="2666991" cy="617153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Creating work orders, scheduling technicians, and tracking execution progress.</a:t>
            </a:r>
            <a:endParaRPr lang="en-US" sz="942" dirty="0"/>
          </a:p>
        </p:txBody>
      </p:sp>
      <p:sp>
        <p:nvSpPr>
          <p:cNvPr id="20" name="Shape 14"/>
          <p:cNvSpPr/>
          <p:nvPr/>
        </p:nvSpPr>
        <p:spPr>
          <a:xfrm>
            <a:off x="6048356" y="3856286"/>
            <a:ext cx="2666991" cy="28396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21" name="Text 15"/>
          <p:cNvSpPr/>
          <p:nvPr/>
        </p:nvSpPr>
        <p:spPr>
          <a:xfrm>
            <a:off x="6048356" y="3856286"/>
            <a:ext cx="2666991" cy="283964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 03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5715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01191"/>
            <a:ext cx="6161484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User Journey: Field Technician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597075"/>
            <a:ext cx="2666991" cy="2728913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578769" y="1739950"/>
            <a:ext cx="357188" cy="357188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6" name="Text 3"/>
          <p:cNvSpPr/>
          <p:nvPr/>
        </p:nvSpPr>
        <p:spPr>
          <a:xfrm>
            <a:off x="1578769" y="1739950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1269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839" y="2182862"/>
            <a:ext cx="375047" cy="4286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2228" y="2925812"/>
            <a:ext cx="2150269" cy="226814"/>
          </a:xfrm>
          <a:prstGeom prst="rect">
            <a:avLst/>
          </a:prstGeom>
          <a:noFill/>
          <a:ln/>
        </p:spPr>
        <p:txBody>
          <a:bodyPr wrap="none" lIns="170053" tIns="0" rIns="170053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Quick Check-in/Out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428625" y="3366939"/>
            <a:ext cx="2657475" cy="617153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equipment status in seconds by scanning a QR code attached to the device, no manual typing required.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3228975" y="1597075"/>
            <a:ext cx="2671763" cy="2728913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6263" y="1739950"/>
            <a:ext cx="357188" cy="357188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12" name="Text 8"/>
          <p:cNvSpPr/>
          <p:nvPr/>
        </p:nvSpPr>
        <p:spPr>
          <a:xfrm>
            <a:off x="4386263" y="1739950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1269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544" y="2182862"/>
            <a:ext cx="428625" cy="4286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82553" y="2925812"/>
            <a:ext cx="2564606" cy="226814"/>
          </a:xfrm>
          <a:prstGeom prst="rect">
            <a:avLst/>
          </a:prstGeom>
          <a:noFill/>
          <a:ln/>
        </p:spPr>
        <p:txBody>
          <a:bodyPr wrap="none" lIns="170053" tIns="0" rIns="170053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Visual Fault Reporting</a:t>
            </a:r>
            <a:endParaRPr lang="en-US" sz="1193" dirty="0"/>
          </a:p>
        </p:txBody>
      </p:sp>
      <p:sp>
        <p:nvSpPr>
          <p:cNvPr id="15" name="Text 10"/>
          <p:cNvSpPr/>
          <p:nvPr/>
        </p:nvSpPr>
        <p:spPr>
          <a:xfrm>
            <a:off x="3233747" y="3366939"/>
            <a:ext cx="2662247" cy="617153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faults by taking photos and adding voice or text descriptions directly from the app.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6038869" y="1597075"/>
            <a:ext cx="2676534" cy="2728913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203244" y="1739950"/>
            <a:ext cx="357188" cy="357188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18" name="Text 13"/>
          <p:cNvSpPr/>
          <p:nvPr/>
        </p:nvSpPr>
        <p:spPr>
          <a:xfrm>
            <a:off x="7203244" y="1739950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1269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525" y="2182862"/>
            <a:ext cx="428625" cy="4286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10288" y="2925812"/>
            <a:ext cx="1943100" cy="226814"/>
          </a:xfrm>
          <a:prstGeom prst="rect">
            <a:avLst/>
          </a:prstGeom>
          <a:noFill/>
          <a:ln/>
        </p:spPr>
        <p:txBody>
          <a:bodyPr wrap="none" lIns="170053" tIns="0" rIns="170053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Smart Navigation</a:t>
            </a:r>
            <a:endParaRPr lang="en-US" sz="1193" dirty="0"/>
          </a:p>
        </p:txBody>
      </p:sp>
      <p:sp>
        <p:nvSpPr>
          <p:cNvPr id="21" name="Text 15"/>
          <p:cNvSpPr/>
          <p:nvPr/>
        </p:nvSpPr>
        <p:spPr>
          <a:xfrm>
            <a:off x="6048356" y="3366939"/>
            <a:ext cx="2666991" cy="617153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Accurately locate required equipment on the map and receive the optimal arrival route within the site.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58341"/>
            <a:ext cx="4107656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Core System Entities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425625"/>
            <a:ext cx="8286750" cy="3717875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5" y="1516707"/>
            <a:ext cx="357188" cy="3571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08224" y="2123842"/>
            <a:ext cx="598289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Asset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571500" y="2493532"/>
            <a:ext cx="5965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ID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2459236" y="2493532"/>
            <a:ext cx="5840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Serial / ID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571500" y="2741777"/>
            <a:ext cx="3000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2484239" y="2741777"/>
            <a:ext cx="5589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571500" y="2990022"/>
            <a:ext cx="3839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2246709" y="2990022"/>
            <a:ext cx="7965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Active/Faulty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571500" y="3238267"/>
            <a:ext cx="5232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885" dirty="0"/>
          </a:p>
        </p:txBody>
      </p:sp>
      <p:sp>
        <p:nvSpPr>
          <p:cNvPr id="14" name="Text 10"/>
          <p:cNvSpPr/>
          <p:nvPr/>
        </p:nvSpPr>
        <p:spPr>
          <a:xfrm>
            <a:off x="2373511" y="3238267"/>
            <a:ext cx="6697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 Coord</a:t>
            </a:r>
            <a:endParaRPr lang="en-US" sz="942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055" y="1516707"/>
            <a:ext cx="267891" cy="3571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32684" y="2123842"/>
            <a:ext cx="478631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Site</a:t>
            </a:r>
            <a:endParaRPr lang="en-US" sz="1397" dirty="0"/>
          </a:p>
        </p:txBody>
      </p:sp>
      <p:sp>
        <p:nvSpPr>
          <p:cNvPr id="17" name="Text 12"/>
          <p:cNvSpPr/>
          <p:nvPr/>
        </p:nvSpPr>
        <p:spPr>
          <a:xfrm>
            <a:off x="3336131" y="2493532"/>
            <a:ext cx="3554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</a:t>
            </a:r>
            <a:endParaRPr lang="en-US" sz="885" dirty="0"/>
          </a:p>
        </p:txBody>
      </p:sp>
      <p:sp>
        <p:nvSpPr>
          <p:cNvPr id="18" name="Text 13"/>
          <p:cNvSpPr/>
          <p:nvPr/>
        </p:nvSpPr>
        <p:spPr>
          <a:xfrm>
            <a:off x="5188148" y="2493532"/>
            <a:ext cx="6197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Name</a:t>
            </a:r>
            <a:endParaRPr lang="en-US" sz="942" dirty="0"/>
          </a:p>
        </p:txBody>
      </p:sp>
      <p:sp>
        <p:nvSpPr>
          <p:cNvPr id="19" name="Text 14"/>
          <p:cNvSpPr/>
          <p:nvPr/>
        </p:nvSpPr>
        <p:spPr>
          <a:xfrm>
            <a:off x="3336131" y="2741777"/>
            <a:ext cx="5036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</a:t>
            </a:r>
            <a:endParaRPr lang="en-US" sz="885" dirty="0"/>
          </a:p>
        </p:txBody>
      </p:sp>
      <p:sp>
        <p:nvSpPr>
          <p:cNvPr id="20" name="Text 15"/>
          <p:cNvSpPr/>
          <p:nvPr/>
        </p:nvSpPr>
        <p:spPr>
          <a:xfrm>
            <a:off x="4973836" y="2741777"/>
            <a:ext cx="8340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Addr</a:t>
            </a:r>
            <a:endParaRPr lang="en-US" sz="942" dirty="0"/>
          </a:p>
        </p:txBody>
      </p:sp>
      <p:sp>
        <p:nvSpPr>
          <p:cNvPr id="21" name="Text 16"/>
          <p:cNvSpPr/>
          <p:nvPr/>
        </p:nvSpPr>
        <p:spPr>
          <a:xfrm>
            <a:off x="3336131" y="2990022"/>
            <a:ext cx="5929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Geofence</a:t>
            </a:r>
            <a:endParaRPr lang="en-US" sz="885" dirty="0"/>
          </a:p>
        </p:txBody>
      </p:sp>
      <p:sp>
        <p:nvSpPr>
          <p:cNvPr id="22" name="Text 17"/>
          <p:cNvSpPr/>
          <p:nvPr/>
        </p:nvSpPr>
        <p:spPr>
          <a:xfrm>
            <a:off x="5072063" y="2990022"/>
            <a:ext cx="7358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Coordinates</a:t>
            </a:r>
            <a:endParaRPr lang="en-US" sz="942" dirty="0"/>
          </a:p>
        </p:txBody>
      </p:sp>
      <p:sp>
        <p:nvSpPr>
          <p:cNvPr id="23" name="Text 18"/>
          <p:cNvSpPr/>
          <p:nvPr/>
        </p:nvSpPr>
        <p:spPr>
          <a:xfrm>
            <a:off x="3336131" y="3238267"/>
            <a:ext cx="5697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</a:t>
            </a:r>
            <a:endParaRPr lang="en-US" sz="885" dirty="0"/>
          </a:p>
        </p:txBody>
      </p:sp>
      <p:sp>
        <p:nvSpPr>
          <p:cNvPr id="24" name="Text 19"/>
          <p:cNvSpPr/>
          <p:nvPr/>
        </p:nvSpPr>
        <p:spPr>
          <a:xfrm>
            <a:off x="5214938" y="3238267"/>
            <a:ext cx="5929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List</a:t>
            </a:r>
            <a:endParaRPr lang="en-US" sz="942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2686" y="1516707"/>
            <a:ext cx="267891" cy="3571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38342" y="2123842"/>
            <a:ext cx="1196578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Work Order</a:t>
            </a:r>
            <a:endParaRPr lang="en-US" sz="1397" dirty="0"/>
          </a:p>
        </p:txBody>
      </p:sp>
      <p:sp>
        <p:nvSpPr>
          <p:cNvPr id="27" name="Text 21"/>
          <p:cNvSpPr/>
          <p:nvPr/>
        </p:nvSpPr>
        <p:spPr>
          <a:xfrm>
            <a:off x="6100763" y="2493532"/>
            <a:ext cx="7929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Type</a:t>
            </a:r>
            <a:endParaRPr lang="en-US" sz="885" dirty="0"/>
          </a:p>
        </p:txBody>
      </p:sp>
      <p:sp>
        <p:nvSpPr>
          <p:cNvPr id="28" name="Text 22"/>
          <p:cNvSpPr/>
          <p:nvPr/>
        </p:nvSpPr>
        <p:spPr>
          <a:xfrm>
            <a:off x="7808119" y="2493532"/>
            <a:ext cx="7643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Repair/Move</a:t>
            </a:r>
            <a:endParaRPr lang="en-US" sz="942" dirty="0"/>
          </a:p>
        </p:txBody>
      </p:sp>
      <p:sp>
        <p:nvSpPr>
          <p:cNvPr id="29" name="Text 23"/>
          <p:cNvSpPr/>
          <p:nvPr/>
        </p:nvSpPr>
        <p:spPr>
          <a:xfrm>
            <a:off x="6100763" y="2741777"/>
            <a:ext cx="5161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</a:t>
            </a:r>
            <a:endParaRPr lang="en-US" sz="885" dirty="0"/>
          </a:p>
        </p:txBody>
      </p:sp>
      <p:sp>
        <p:nvSpPr>
          <p:cNvPr id="30" name="Text 24"/>
          <p:cNvSpPr/>
          <p:nvPr/>
        </p:nvSpPr>
        <p:spPr>
          <a:xfrm>
            <a:off x="8136731" y="2741777"/>
            <a:ext cx="4357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</a:t>
            </a:r>
            <a:endParaRPr lang="en-US" sz="942" dirty="0"/>
          </a:p>
        </p:txBody>
      </p:sp>
      <p:sp>
        <p:nvSpPr>
          <p:cNvPr id="31" name="Text 25"/>
          <p:cNvSpPr/>
          <p:nvPr/>
        </p:nvSpPr>
        <p:spPr>
          <a:xfrm>
            <a:off x="6100763" y="2990022"/>
            <a:ext cx="3839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885" dirty="0"/>
          </a:p>
        </p:txBody>
      </p:sp>
      <p:sp>
        <p:nvSpPr>
          <p:cNvPr id="32" name="Text 26"/>
          <p:cNvSpPr/>
          <p:nvPr/>
        </p:nvSpPr>
        <p:spPr>
          <a:xfrm>
            <a:off x="7977783" y="2990022"/>
            <a:ext cx="5947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942" dirty="0"/>
          </a:p>
        </p:txBody>
      </p:sp>
      <p:sp>
        <p:nvSpPr>
          <p:cNvPr id="33" name="Text 27"/>
          <p:cNvSpPr/>
          <p:nvPr/>
        </p:nvSpPr>
        <p:spPr>
          <a:xfrm>
            <a:off x="6100763" y="3238267"/>
            <a:ext cx="5607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Assignee</a:t>
            </a:r>
            <a:endParaRPr lang="en-US" sz="885" dirty="0"/>
          </a:p>
        </p:txBody>
      </p:sp>
      <p:sp>
        <p:nvSpPr>
          <p:cNvPr id="34" name="Text 28"/>
          <p:cNvSpPr/>
          <p:nvPr/>
        </p:nvSpPr>
        <p:spPr>
          <a:xfrm>
            <a:off x="7917061" y="3238267"/>
            <a:ext cx="6554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Technician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58341"/>
            <a:ext cx="4518422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User Interface (UI/UX)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566714"/>
            <a:ext cx="225028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3666" y="1682800"/>
            <a:ext cx="160734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Smart Map View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753666" y="1952476"/>
            <a:ext cx="1607344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Equipment locations are displayed using color-coded pins indicating device status (Active, Faulty, In Service).</a:t>
            </a:r>
            <a:endParaRPr lang="en-US" sz="942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884" y="1566714"/>
            <a:ext cx="200025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803922" y="1682800"/>
            <a:ext cx="1632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Quick Search &amp; Filter</a:t>
            </a:r>
            <a:endParaRPr lang="en-US" sz="1193" dirty="0"/>
          </a:p>
        </p:txBody>
      </p:sp>
      <p:sp>
        <p:nvSpPr>
          <p:cNvPr id="9" name="Text 4"/>
          <p:cNvSpPr/>
          <p:nvPr/>
        </p:nvSpPr>
        <p:spPr>
          <a:xfrm>
            <a:off x="2803922" y="2179290"/>
            <a:ext cx="1632347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filtering by equipment type, work site, assigned technician, or urgency level.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063329"/>
            <a:ext cx="175022" cy="2000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3659" y="3179415"/>
            <a:ext cx="16573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Alert System</a:t>
            </a:r>
            <a:endParaRPr lang="en-US" sz="1193" dirty="0"/>
          </a:p>
        </p:txBody>
      </p:sp>
      <p:sp>
        <p:nvSpPr>
          <p:cNvPr id="12" name="Text 6"/>
          <p:cNvSpPr/>
          <p:nvPr/>
        </p:nvSpPr>
        <p:spPr>
          <a:xfrm>
            <a:off x="703659" y="3449092"/>
            <a:ext cx="16573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push notifications for critical faults, geofence breaches, or task status changes.</a:t>
            </a:r>
            <a:endParaRPr lang="en-US" sz="942" dirty="0"/>
          </a:p>
        </p:txBody>
      </p:sp>
      <p:sp>
        <p:nvSpPr>
          <p:cNvPr id="13" name="Shape 7"/>
          <p:cNvSpPr/>
          <p:nvPr/>
        </p:nvSpPr>
        <p:spPr>
          <a:xfrm>
            <a:off x="4693444" y="1511350"/>
            <a:ext cx="4021931" cy="2300288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4700588" y="1511350"/>
            <a:ext cx="4014788" cy="34111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15" name="Text 9"/>
          <p:cNvSpPr/>
          <p:nvPr/>
        </p:nvSpPr>
        <p:spPr>
          <a:xfrm>
            <a:off x="4700588" y="1511350"/>
            <a:ext cx="4014788" cy="341114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System View - Example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4786313" y="1909614"/>
            <a:ext cx="3843338" cy="942975"/>
          </a:xfrm>
          <a:prstGeom prst="rect">
            <a:avLst/>
          </a:prstGeom>
          <a:solidFill>
            <a:srgbClr val="E0E0E0"/>
          </a:solidFill>
          <a:ln w="9144">
            <a:solidFill>
              <a:srgbClr val="42526E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2052489"/>
            <a:ext cx="128588" cy="17145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6438" y="2409676"/>
            <a:ext cx="128588" cy="171450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6375" y="2588270"/>
            <a:ext cx="128588" cy="1714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232922" y="2321272"/>
            <a:ext cx="950119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Map Display</a:t>
            </a:r>
            <a:endParaRPr lang="en-US" sz="621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894" y="2956173"/>
            <a:ext cx="100013" cy="100013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036344" y="2945457"/>
            <a:ext cx="229493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Alert: Asset #402 breached South Site boundary</a:t>
            </a:r>
            <a:endParaRPr lang="en-US" sz="727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894" y="3191917"/>
            <a:ext cx="100013" cy="100013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036344" y="3181201"/>
            <a:ext cx="22717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Update: Technician completed Work Order #109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51197"/>
            <a:ext cx="4518422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Technical Architecture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418481"/>
            <a:ext cx="8286750" cy="857250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782812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1544" y="1755130"/>
            <a:ext cx="7250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Backend</a:t>
            </a:r>
            <a:endParaRPr lang="en-US" sz="1269" dirty="0"/>
          </a:p>
        </p:txBody>
      </p:sp>
      <p:sp>
        <p:nvSpPr>
          <p:cNvPr id="7" name="Text 3"/>
          <p:cNvSpPr/>
          <p:nvPr/>
        </p:nvSpPr>
        <p:spPr>
          <a:xfrm>
            <a:off x="2650331" y="1626543"/>
            <a:ext cx="27296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/ Express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2650331" y="1835497"/>
            <a:ext cx="272963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and scalable API server for real-time requests.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5594282" y="1626543"/>
            <a:ext cx="312109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5594282" y="1835497"/>
            <a:ext cx="3121093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relational database for asset and site management.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428625" y="2318593"/>
            <a:ext cx="8286750" cy="857250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682925"/>
            <a:ext cx="214313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406" y="2655243"/>
            <a:ext cx="8286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Frontend</a:t>
            </a:r>
            <a:endParaRPr lang="en-US" sz="1269" dirty="0"/>
          </a:p>
        </p:txBody>
      </p:sp>
      <p:sp>
        <p:nvSpPr>
          <p:cNvPr id="14" name="Text 9"/>
          <p:cNvSpPr/>
          <p:nvPr/>
        </p:nvSpPr>
        <p:spPr>
          <a:xfrm>
            <a:off x="2650331" y="2595414"/>
            <a:ext cx="300394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</a:t>
            </a:r>
            <a:endParaRPr lang="en-US" sz="987" dirty="0"/>
          </a:p>
        </p:txBody>
      </p:sp>
      <p:sp>
        <p:nvSpPr>
          <p:cNvPr id="15" name="Text 10"/>
          <p:cNvSpPr/>
          <p:nvPr/>
        </p:nvSpPr>
        <p:spPr>
          <a:xfrm>
            <a:off x="2650331" y="2804368"/>
            <a:ext cx="300394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Data-rich Admin Dashboard with interactive map views.</a:t>
            </a:r>
            <a:endParaRPr lang="en-US" sz="834" dirty="0"/>
          </a:p>
        </p:txBody>
      </p:sp>
      <p:sp>
        <p:nvSpPr>
          <p:cNvPr id="16" name="Text 11"/>
          <p:cNvSpPr/>
          <p:nvPr/>
        </p:nvSpPr>
        <p:spPr>
          <a:xfrm>
            <a:off x="5868591" y="2595414"/>
            <a:ext cx="257710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Native</a:t>
            </a:r>
            <a:endParaRPr lang="en-US" sz="987" dirty="0"/>
          </a:p>
        </p:txBody>
      </p:sp>
      <p:sp>
        <p:nvSpPr>
          <p:cNvPr id="17" name="Text 12"/>
          <p:cNvSpPr/>
          <p:nvPr/>
        </p:nvSpPr>
        <p:spPr>
          <a:xfrm>
            <a:off x="5868591" y="2804368"/>
            <a:ext cx="257710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Cross-platform mobile app for field technicians.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428625" y="3218706"/>
            <a:ext cx="8286750" cy="857250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583037"/>
            <a:ext cx="128588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8681" y="3555355"/>
            <a:ext cx="1243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Integrations</a:t>
            </a:r>
            <a:endParaRPr lang="en-US" sz="1269" dirty="0"/>
          </a:p>
        </p:txBody>
      </p:sp>
      <p:sp>
        <p:nvSpPr>
          <p:cNvPr id="21" name="Text 15"/>
          <p:cNvSpPr/>
          <p:nvPr/>
        </p:nvSpPr>
        <p:spPr>
          <a:xfrm>
            <a:off x="2650331" y="3426768"/>
            <a:ext cx="293133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Maps API</a:t>
            </a:r>
            <a:endParaRPr lang="en-US" sz="987" dirty="0"/>
          </a:p>
        </p:txBody>
      </p:sp>
      <p:sp>
        <p:nvSpPr>
          <p:cNvPr id="22" name="Text 16"/>
          <p:cNvSpPr/>
          <p:nvPr/>
        </p:nvSpPr>
        <p:spPr>
          <a:xfrm>
            <a:off x="2650331" y="3635722"/>
            <a:ext cx="2931337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mapping, navigation, and geocoding services.</a:t>
            </a:r>
            <a:endParaRPr lang="en-US" sz="834" dirty="0"/>
          </a:p>
        </p:txBody>
      </p:sp>
      <p:sp>
        <p:nvSpPr>
          <p:cNvPr id="23" name="Text 17"/>
          <p:cNvSpPr/>
          <p:nvPr/>
        </p:nvSpPr>
        <p:spPr>
          <a:xfrm>
            <a:off x="5795981" y="3426768"/>
            <a:ext cx="291939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Storage</a:t>
            </a:r>
            <a:endParaRPr lang="en-US" sz="987" dirty="0"/>
          </a:p>
        </p:txBody>
      </p:sp>
      <p:sp>
        <p:nvSpPr>
          <p:cNvPr id="24" name="Text 18"/>
          <p:cNvSpPr/>
          <p:nvPr/>
        </p:nvSpPr>
        <p:spPr>
          <a:xfrm>
            <a:off x="5795981" y="3635722"/>
            <a:ext cx="291939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storage for field photos and fault documentation.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58341"/>
            <a:ext cx="5339953" cy="523280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Development Phases and MVP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468487"/>
            <a:ext cx="8286750" cy="942975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28625" y="1468487"/>
            <a:ext cx="1285875" cy="928688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6" name="Text 3"/>
          <p:cNvSpPr/>
          <p:nvPr/>
        </p:nvSpPr>
        <p:spPr>
          <a:xfrm>
            <a:off x="919758" y="1697087"/>
            <a:ext cx="30360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PHASE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917972" y="1829246"/>
            <a:ext cx="307181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1808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816" y="1789956"/>
            <a:ext cx="250031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78894" y="1666559"/>
            <a:ext cx="59936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52C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Infrastructure &amp; Core Management</a:t>
            </a:r>
            <a:endParaRPr lang="en-US" sz="1269" dirty="0"/>
          </a:p>
        </p:txBody>
      </p:sp>
      <p:sp>
        <p:nvSpPr>
          <p:cNvPr id="10" name="Text 6"/>
          <p:cNvSpPr/>
          <p:nvPr/>
        </p:nvSpPr>
        <p:spPr>
          <a:xfrm>
            <a:off x="2578894" y="1936235"/>
            <a:ext cx="5993606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Setting up the database, developing the basic Admin Dashboard, and implementing initial inventory and asset management capabilities.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428625" y="2454325"/>
            <a:ext cx="8286750" cy="942975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8625" y="2454325"/>
            <a:ext cx="1285875" cy="928688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13" name="Text 9"/>
          <p:cNvSpPr/>
          <p:nvPr/>
        </p:nvSpPr>
        <p:spPr>
          <a:xfrm>
            <a:off x="919758" y="2682925"/>
            <a:ext cx="30360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PHASE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917972" y="2815084"/>
            <a:ext cx="307181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1808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675" y="2775793"/>
            <a:ext cx="214313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78894" y="2652396"/>
            <a:ext cx="59936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52C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Field App &amp; Mobile Reporting</a:t>
            </a:r>
            <a:endParaRPr lang="en-US" sz="1269" dirty="0"/>
          </a:p>
        </p:txBody>
      </p:sp>
      <p:sp>
        <p:nvSpPr>
          <p:cNvPr id="17" name="Text 12"/>
          <p:cNvSpPr/>
          <p:nvPr/>
        </p:nvSpPr>
        <p:spPr>
          <a:xfrm>
            <a:off x="2578894" y="2922073"/>
            <a:ext cx="5993606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Developing the mobile app for technicians, implementing QR scanning, visual fault reporting, and real-time data synchronization.</a:t>
            </a:r>
            <a:endParaRPr lang="en-US" sz="942" dirty="0"/>
          </a:p>
        </p:txBody>
      </p:sp>
      <p:sp>
        <p:nvSpPr>
          <p:cNvPr id="18" name="Shape 13"/>
          <p:cNvSpPr/>
          <p:nvPr/>
        </p:nvSpPr>
        <p:spPr>
          <a:xfrm>
            <a:off x="428625" y="3440162"/>
            <a:ext cx="8286750" cy="942975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28625" y="3440162"/>
            <a:ext cx="1285875" cy="928688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20" name="Text 15"/>
          <p:cNvSpPr/>
          <p:nvPr/>
        </p:nvSpPr>
        <p:spPr>
          <a:xfrm>
            <a:off x="919758" y="3668762"/>
            <a:ext cx="30360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PHASE</a:t>
            </a:r>
            <a:endParaRPr lang="en-US" sz="727" dirty="0"/>
          </a:p>
        </p:txBody>
      </p:sp>
      <p:sp>
        <p:nvSpPr>
          <p:cNvPr id="21" name="Text 16"/>
          <p:cNvSpPr/>
          <p:nvPr/>
        </p:nvSpPr>
        <p:spPr>
          <a:xfrm>
            <a:off x="917972" y="3800921"/>
            <a:ext cx="307181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1808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097" y="3761631"/>
            <a:ext cx="321469" cy="2857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578894" y="3638234"/>
            <a:ext cx="59936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52C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Optimization &amp; Smart Alerts</a:t>
            </a:r>
            <a:endParaRPr lang="en-US" sz="1269" dirty="0"/>
          </a:p>
        </p:txBody>
      </p:sp>
      <p:sp>
        <p:nvSpPr>
          <p:cNvPr id="24" name="Text 18"/>
          <p:cNvSpPr/>
          <p:nvPr/>
        </p:nvSpPr>
        <p:spPr>
          <a:xfrm>
            <a:off x="2578894" y="3907910"/>
            <a:ext cx="5993606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the interactive map, defining Geofencing, implementing smart push notifications, and advanced analytical reports.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2026-03-01T04:37:14Z</dcterms:created>
  <dcterms:modified xsi:type="dcterms:W3CDTF">2026-03-01T04:37:14Z</dcterms:modified>
</cp:coreProperties>
</file>